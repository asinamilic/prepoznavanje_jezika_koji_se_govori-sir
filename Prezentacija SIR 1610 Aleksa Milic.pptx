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069822-8E03-4617-BF0A-E5E214ED159C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67D905-943A-41AD-9921-43EA890745B2}">
      <dgm:prSet/>
      <dgm:spPr/>
      <dgm:t>
        <a:bodyPr/>
        <a:lstStyle/>
        <a:p>
          <a:r>
            <a:rPr lang="en-US" b="1"/>
            <a:t>Koraci obrade:</a:t>
          </a:r>
          <a:endParaRPr lang="en-US"/>
        </a:p>
      </dgm:t>
    </dgm:pt>
    <dgm:pt modelId="{61DEC854-8D5A-4285-8E07-CCAA7942B313}" type="parTrans" cxnId="{B95BF0B0-992D-4B9A-9B4D-9823E90B5D4A}">
      <dgm:prSet/>
      <dgm:spPr/>
      <dgm:t>
        <a:bodyPr/>
        <a:lstStyle/>
        <a:p>
          <a:endParaRPr lang="en-US"/>
        </a:p>
      </dgm:t>
    </dgm:pt>
    <dgm:pt modelId="{E06B778E-AF98-427F-88B3-4F55932ACCA4}" type="sibTrans" cxnId="{B95BF0B0-992D-4B9A-9B4D-9823E90B5D4A}">
      <dgm:prSet/>
      <dgm:spPr/>
      <dgm:t>
        <a:bodyPr/>
        <a:lstStyle/>
        <a:p>
          <a:endParaRPr lang="en-US"/>
        </a:p>
      </dgm:t>
    </dgm:pt>
    <dgm:pt modelId="{FD3B2464-E3D0-4B7B-B569-58CC2D466F31}">
      <dgm:prSet/>
      <dgm:spPr/>
      <dgm:t>
        <a:bodyPr/>
        <a:lstStyle/>
        <a:p>
          <a:r>
            <a:rPr lang="en-US" b="1"/>
            <a:t>Pre-emphasis</a:t>
          </a:r>
          <a:r>
            <a:rPr lang="en-US"/>
            <a:t> – pojačavanje visokih frekvencija radi boljeg odnosa signal/šum</a:t>
          </a:r>
        </a:p>
      </dgm:t>
    </dgm:pt>
    <dgm:pt modelId="{E34AB81F-FC38-4583-B33D-268867E2451E}" type="parTrans" cxnId="{4D1A48C0-8D00-4D31-8509-13353002D95E}">
      <dgm:prSet/>
      <dgm:spPr/>
      <dgm:t>
        <a:bodyPr/>
        <a:lstStyle/>
        <a:p>
          <a:endParaRPr lang="en-US"/>
        </a:p>
      </dgm:t>
    </dgm:pt>
    <dgm:pt modelId="{B2DBEC25-1619-4D8F-AD7A-1AD2DC49D4C4}" type="sibTrans" cxnId="{4D1A48C0-8D00-4D31-8509-13353002D95E}">
      <dgm:prSet/>
      <dgm:spPr/>
      <dgm:t>
        <a:bodyPr/>
        <a:lstStyle/>
        <a:p>
          <a:endParaRPr lang="en-US"/>
        </a:p>
      </dgm:t>
    </dgm:pt>
    <dgm:pt modelId="{12D49FBC-3B86-474F-8493-82B82DE4D338}">
      <dgm:prSet/>
      <dgm:spPr/>
      <dgm:t>
        <a:bodyPr/>
        <a:lstStyle/>
        <a:p>
          <a:r>
            <a:rPr lang="en-US" b="1" dirty="0"/>
            <a:t>Framing</a:t>
          </a:r>
          <a:r>
            <a:rPr lang="en-US" dirty="0"/>
            <a:t> – </a:t>
          </a:r>
          <a:r>
            <a:rPr lang="en-US" dirty="0" err="1"/>
            <a:t>podela</a:t>
          </a:r>
          <a:r>
            <a:rPr lang="en-US" dirty="0"/>
            <a:t> </a:t>
          </a:r>
          <a:r>
            <a:rPr lang="en-US" dirty="0" err="1"/>
            <a:t>signala</a:t>
          </a:r>
          <a:r>
            <a:rPr lang="en-US" dirty="0"/>
            <a:t> </a:t>
          </a:r>
          <a:r>
            <a:rPr lang="en-US" dirty="0" err="1"/>
            <a:t>na</a:t>
          </a:r>
          <a:r>
            <a:rPr lang="en-US" dirty="0"/>
            <a:t> </a:t>
          </a:r>
          <a:r>
            <a:rPr lang="en-US" dirty="0" err="1"/>
            <a:t>kratke</a:t>
          </a:r>
          <a:r>
            <a:rPr lang="en-US" dirty="0"/>
            <a:t> </a:t>
          </a:r>
          <a:r>
            <a:rPr lang="en-US" dirty="0" err="1"/>
            <a:t>prozore</a:t>
          </a:r>
          <a:r>
            <a:rPr lang="en-US" dirty="0"/>
            <a:t> (20–40 </a:t>
          </a:r>
          <a:r>
            <a:rPr lang="en-US" dirty="0" err="1"/>
            <a:t>ms</a:t>
          </a:r>
          <a:r>
            <a:rPr lang="en-US" dirty="0"/>
            <a:t>)</a:t>
          </a:r>
        </a:p>
      </dgm:t>
    </dgm:pt>
    <dgm:pt modelId="{F3C432C1-FAE1-4E49-8BC5-031F7E5125BB}" type="parTrans" cxnId="{052BE78E-351A-4E4A-863D-8BD1A27B787D}">
      <dgm:prSet/>
      <dgm:spPr/>
      <dgm:t>
        <a:bodyPr/>
        <a:lstStyle/>
        <a:p>
          <a:endParaRPr lang="en-US"/>
        </a:p>
      </dgm:t>
    </dgm:pt>
    <dgm:pt modelId="{2C698B8F-4DD1-4A6F-9106-D587CEC0CAED}" type="sibTrans" cxnId="{052BE78E-351A-4E4A-863D-8BD1A27B787D}">
      <dgm:prSet/>
      <dgm:spPr/>
      <dgm:t>
        <a:bodyPr/>
        <a:lstStyle/>
        <a:p>
          <a:endParaRPr lang="en-US"/>
        </a:p>
      </dgm:t>
    </dgm:pt>
    <dgm:pt modelId="{FA2CF317-4F34-4F02-B59D-BD7E3EC1C3F5}">
      <dgm:prSet/>
      <dgm:spPr/>
      <dgm:t>
        <a:bodyPr/>
        <a:lstStyle/>
        <a:p>
          <a:r>
            <a:rPr lang="en-US" b="1"/>
            <a:t>Windowing</a:t>
          </a:r>
          <a:r>
            <a:rPr lang="en-US"/>
            <a:t> – smanjivanje diskontinuiteta (Hamming/Hann prozor)</a:t>
          </a:r>
        </a:p>
      </dgm:t>
    </dgm:pt>
    <dgm:pt modelId="{96E3FD83-65D0-41C6-BBBC-0DE947F5C5C0}" type="parTrans" cxnId="{47D09E70-1E34-470C-8393-D9AD028EA0B5}">
      <dgm:prSet/>
      <dgm:spPr/>
      <dgm:t>
        <a:bodyPr/>
        <a:lstStyle/>
        <a:p>
          <a:endParaRPr lang="en-US"/>
        </a:p>
      </dgm:t>
    </dgm:pt>
    <dgm:pt modelId="{E43F4F77-9AD7-4F14-BC52-C400644EF609}" type="sibTrans" cxnId="{47D09E70-1E34-470C-8393-D9AD028EA0B5}">
      <dgm:prSet/>
      <dgm:spPr/>
      <dgm:t>
        <a:bodyPr/>
        <a:lstStyle/>
        <a:p>
          <a:endParaRPr lang="en-US"/>
        </a:p>
      </dgm:t>
    </dgm:pt>
    <dgm:pt modelId="{CFF7A0DB-F815-442A-89B8-82D8C9F41696}">
      <dgm:prSet/>
      <dgm:spPr/>
      <dgm:t>
        <a:bodyPr/>
        <a:lstStyle/>
        <a:p>
          <a:r>
            <a:rPr lang="en-US" b="1"/>
            <a:t>FFT</a:t>
          </a:r>
          <a:r>
            <a:rPr lang="en-US"/>
            <a:t> – prelazak u frekvencijski domen</a:t>
          </a:r>
        </a:p>
      </dgm:t>
    </dgm:pt>
    <dgm:pt modelId="{CEAF3314-A6F6-4E5C-855E-93C8B61BBAA3}" type="parTrans" cxnId="{E9703D12-DD76-4CEF-B0DE-336AC46ACDEC}">
      <dgm:prSet/>
      <dgm:spPr/>
      <dgm:t>
        <a:bodyPr/>
        <a:lstStyle/>
        <a:p>
          <a:endParaRPr lang="en-US"/>
        </a:p>
      </dgm:t>
    </dgm:pt>
    <dgm:pt modelId="{B6016109-B1BF-4F20-B70F-E2E608278B50}" type="sibTrans" cxnId="{E9703D12-DD76-4CEF-B0DE-336AC46ACDEC}">
      <dgm:prSet/>
      <dgm:spPr/>
      <dgm:t>
        <a:bodyPr/>
        <a:lstStyle/>
        <a:p>
          <a:endParaRPr lang="en-US"/>
        </a:p>
      </dgm:t>
    </dgm:pt>
    <dgm:pt modelId="{E53BC982-072B-47B5-9EDA-13BA43F3458E}">
      <dgm:prSet/>
      <dgm:spPr/>
      <dgm:t>
        <a:bodyPr/>
        <a:lstStyle/>
        <a:p>
          <a:r>
            <a:rPr lang="en-US" b="1" dirty="0"/>
            <a:t>Mel filter-bank</a:t>
          </a:r>
          <a:r>
            <a:rPr lang="en-US" dirty="0"/>
            <a:t> – </a:t>
          </a:r>
          <a:r>
            <a:rPr lang="en-US" dirty="0" err="1"/>
            <a:t>mapiranje</a:t>
          </a:r>
          <a:r>
            <a:rPr lang="en-US" dirty="0"/>
            <a:t> </a:t>
          </a:r>
          <a:r>
            <a:rPr lang="en-US" dirty="0" err="1"/>
            <a:t>na</a:t>
          </a:r>
          <a:r>
            <a:rPr lang="en-US" dirty="0"/>
            <a:t> Mel </a:t>
          </a:r>
          <a:r>
            <a:rPr lang="en-US" dirty="0" err="1"/>
            <a:t>skalu</a:t>
          </a:r>
          <a:r>
            <a:rPr lang="en-US" dirty="0"/>
            <a:t> (</a:t>
          </a:r>
          <a:r>
            <a:rPr lang="en-US" dirty="0" err="1"/>
            <a:t>perceptivno</a:t>
          </a:r>
          <a:r>
            <a:rPr lang="en-US" dirty="0"/>
            <a:t> </a:t>
          </a:r>
          <a:r>
            <a:rPr lang="en-US" dirty="0" err="1"/>
            <a:t>relevantne</a:t>
          </a:r>
          <a:r>
            <a:rPr lang="en-US" dirty="0"/>
            <a:t> </a:t>
          </a:r>
          <a:r>
            <a:rPr lang="en-US" dirty="0" err="1"/>
            <a:t>frekvencije</a:t>
          </a:r>
          <a:r>
            <a:rPr lang="en-US" dirty="0"/>
            <a:t>)</a:t>
          </a:r>
        </a:p>
      </dgm:t>
    </dgm:pt>
    <dgm:pt modelId="{105BE778-59CE-40AE-AE08-909E19F26FAC}" type="parTrans" cxnId="{D9A2F829-2BB4-40BB-AB27-F50512457DF5}">
      <dgm:prSet/>
      <dgm:spPr/>
      <dgm:t>
        <a:bodyPr/>
        <a:lstStyle/>
        <a:p>
          <a:endParaRPr lang="en-US"/>
        </a:p>
      </dgm:t>
    </dgm:pt>
    <dgm:pt modelId="{1FE58673-C5DB-4A6F-ADF1-EC5D864CEE18}" type="sibTrans" cxnId="{D9A2F829-2BB4-40BB-AB27-F50512457DF5}">
      <dgm:prSet/>
      <dgm:spPr/>
      <dgm:t>
        <a:bodyPr/>
        <a:lstStyle/>
        <a:p>
          <a:endParaRPr lang="en-US"/>
        </a:p>
      </dgm:t>
    </dgm:pt>
    <dgm:pt modelId="{F9FAFDF7-51F6-4D51-A9D5-B90D8B1498A2}">
      <dgm:prSet/>
      <dgm:spPr/>
      <dgm:t>
        <a:bodyPr/>
        <a:lstStyle/>
        <a:p>
          <a:r>
            <a:rPr lang="en-US" b="1"/>
            <a:t>Logaritamska kompresija</a:t>
          </a:r>
          <a:r>
            <a:rPr lang="en-US"/>
            <a:t> – stabilizacija amplitude</a:t>
          </a:r>
        </a:p>
      </dgm:t>
    </dgm:pt>
    <dgm:pt modelId="{989759E5-D1C0-451B-858A-A24F683E9A6F}" type="parTrans" cxnId="{8FF5363F-BFFF-414F-B40C-310A54533F8A}">
      <dgm:prSet/>
      <dgm:spPr/>
      <dgm:t>
        <a:bodyPr/>
        <a:lstStyle/>
        <a:p>
          <a:endParaRPr lang="en-US"/>
        </a:p>
      </dgm:t>
    </dgm:pt>
    <dgm:pt modelId="{E24B0DB3-F5DC-4A46-B828-15128C8A6346}" type="sibTrans" cxnId="{8FF5363F-BFFF-414F-B40C-310A54533F8A}">
      <dgm:prSet/>
      <dgm:spPr/>
      <dgm:t>
        <a:bodyPr/>
        <a:lstStyle/>
        <a:p>
          <a:endParaRPr lang="en-US"/>
        </a:p>
      </dgm:t>
    </dgm:pt>
    <dgm:pt modelId="{9AB98186-B831-49F7-AAA8-793A1E13C69B}">
      <dgm:prSet/>
      <dgm:spPr/>
      <dgm:t>
        <a:bodyPr/>
        <a:lstStyle/>
        <a:p>
          <a:r>
            <a:rPr lang="en-US" b="1"/>
            <a:t>DCT</a:t>
          </a:r>
          <a:r>
            <a:rPr lang="en-US"/>
            <a:t> – generisanje MFCC koeficijenata (13–40)</a:t>
          </a:r>
        </a:p>
      </dgm:t>
    </dgm:pt>
    <dgm:pt modelId="{5CCBE48C-2D17-484D-A2BA-881AC6136A6F}" type="parTrans" cxnId="{9D23354C-7D34-4181-B57C-2FBE41C0AC7A}">
      <dgm:prSet/>
      <dgm:spPr/>
      <dgm:t>
        <a:bodyPr/>
        <a:lstStyle/>
        <a:p>
          <a:endParaRPr lang="en-US"/>
        </a:p>
      </dgm:t>
    </dgm:pt>
    <dgm:pt modelId="{0D584A13-2DDB-4B56-A2E3-25A511F5F7C8}" type="sibTrans" cxnId="{9D23354C-7D34-4181-B57C-2FBE41C0AC7A}">
      <dgm:prSet/>
      <dgm:spPr/>
      <dgm:t>
        <a:bodyPr/>
        <a:lstStyle/>
        <a:p>
          <a:endParaRPr lang="en-US"/>
        </a:p>
      </dgm:t>
    </dgm:pt>
    <dgm:pt modelId="{EF475091-F62A-4A62-9F71-8DD12E3A0B4A}" type="pres">
      <dgm:prSet presAssocID="{F7069822-8E03-4617-BF0A-E5E214ED159C}" presName="cycle" presStyleCnt="0">
        <dgm:presLayoutVars>
          <dgm:dir/>
          <dgm:resizeHandles val="exact"/>
        </dgm:presLayoutVars>
      </dgm:prSet>
      <dgm:spPr/>
    </dgm:pt>
    <dgm:pt modelId="{38F6EF48-9A09-43E5-98B5-C073F6FB7313}" type="pres">
      <dgm:prSet presAssocID="{4867D905-943A-41AD-9921-43EA890745B2}" presName="node" presStyleLbl="revTx" presStyleIdx="0" presStyleCnt="1">
        <dgm:presLayoutVars>
          <dgm:bulletEnabled val="1"/>
        </dgm:presLayoutVars>
      </dgm:prSet>
      <dgm:spPr/>
    </dgm:pt>
  </dgm:ptLst>
  <dgm:cxnLst>
    <dgm:cxn modelId="{E9703D12-DD76-4CEF-B0DE-336AC46ACDEC}" srcId="{4867D905-943A-41AD-9921-43EA890745B2}" destId="{CFF7A0DB-F815-442A-89B8-82D8C9F41696}" srcOrd="3" destOrd="0" parTransId="{CEAF3314-A6F6-4E5C-855E-93C8B61BBAA3}" sibTransId="{B6016109-B1BF-4F20-B70F-E2E608278B50}"/>
    <dgm:cxn modelId="{D9A2F829-2BB4-40BB-AB27-F50512457DF5}" srcId="{4867D905-943A-41AD-9921-43EA890745B2}" destId="{E53BC982-072B-47B5-9EDA-13BA43F3458E}" srcOrd="4" destOrd="0" parTransId="{105BE778-59CE-40AE-AE08-909E19F26FAC}" sibTransId="{1FE58673-C5DB-4A6F-ADF1-EC5D864CEE18}"/>
    <dgm:cxn modelId="{9A090E3A-0D94-4D9C-9D6E-2EC8BF8FEA74}" type="presOf" srcId="{FD3B2464-E3D0-4B7B-B569-58CC2D466F31}" destId="{38F6EF48-9A09-43E5-98B5-C073F6FB7313}" srcOrd="0" destOrd="1" presId="urn:microsoft.com/office/officeart/2005/8/layout/cycle1"/>
    <dgm:cxn modelId="{8FF5363F-BFFF-414F-B40C-310A54533F8A}" srcId="{4867D905-943A-41AD-9921-43EA890745B2}" destId="{F9FAFDF7-51F6-4D51-A9D5-B90D8B1498A2}" srcOrd="5" destOrd="0" parTransId="{989759E5-D1C0-451B-858A-A24F683E9A6F}" sibTransId="{E24B0DB3-F5DC-4A46-B828-15128C8A6346}"/>
    <dgm:cxn modelId="{9D23354C-7D34-4181-B57C-2FBE41C0AC7A}" srcId="{4867D905-943A-41AD-9921-43EA890745B2}" destId="{9AB98186-B831-49F7-AAA8-793A1E13C69B}" srcOrd="6" destOrd="0" parTransId="{5CCBE48C-2D17-484D-A2BA-881AC6136A6F}" sibTransId="{0D584A13-2DDB-4B56-A2E3-25A511F5F7C8}"/>
    <dgm:cxn modelId="{47D09E70-1E34-470C-8393-D9AD028EA0B5}" srcId="{4867D905-943A-41AD-9921-43EA890745B2}" destId="{FA2CF317-4F34-4F02-B59D-BD7E3EC1C3F5}" srcOrd="2" destOrd="0" parTransId="{96E3FD83-65D0-41C6-BBBC-0DE947F5C5C0}" sibTransId="{E43F4F77-9AD7-4F14-BC52-C400644EF609}"/>
    <dgm:cxn modelId="{68A63952-9C1B-42E8-ABD3-BA5DA681698C}" type="presOf" srcId="{F9FAFDF7-51F6-4D51-A9D5-B90D8B1498A2}" destId="{38F6EF48-9A09-43E5-98B5-C073F6FB7313}" srcOrd="0" destOrd="6" presId="urn:microsoft.com/office/officeart/2005/8/layout/cycle1"/>
    <dgm:cxn modelId="{052BE78E-351A-4E4A-863D-8BD1A27B787D}" srcId="{4867D905-943A-41AD-9921-43EA890745B2}" destId="{12D49FBC-3B86-474F-8493-82B82DE4D338}" srcOrd="1" destOrd="0" parTransId="{F3C432C1-FAE1-4E49-8BC5-031F7E5125BB}" sibTransId="{2C698B8F-4DD1-4A6F-9106-D587CEC0CAED}"/>
    <dgm:cxn modelId="{A147BEAA-6E06-49C6-A007-6F915F608D21}" type="presOf" srcId="{F7069822-8E03-4617-BF0A-E5E214ED159C}" destId="{EF475091-F62A-4A62-9F71-8DD12E3A0B4A}" srcOrd="0" destOrd="0" presId="urn:microsoft.com/office/officeart/2005/8/layout/cycle1"/>
    <dgm:cxn modelId="{B95BF0B0-992D-4B9A-9B4D-9823E90B5D4A}" srcId="{F7069822-8E03-4617-BF0A-E5E214ED159C}" destId="{4867D905-943A-41AD-9921-43EA890745B2}" srcOrd="0" destOrd="0" parTransId="{61DEC854-8D5A-4285-8E07-CCAA7942B313}" sibTransId="{E06B778E-AF98-427F-88B3-4F55932ACCA4}"/>
    <dgm:cxn modelId="{3E3305BB-D8E9-46EC-A414-BF176B6012CC}" type="presOf" srcId="{12D49FBC-3B86-474F-8493-82B82DE4D338}" destId="{38F6EF48-9A09-43E5-98B5-C073F6FB7313}" srcOrd="0" destOrd="2" presId="urn:microsoft.com/office/officeart/2005/8/layout/cycle1"/>
    <dgm:cxn modelId="{849FDABC-2A5C-46DB-B81B-A01C20D81781}" type="presOf" srcId="{FA2CF317-4F34-4F02-B59D-BD7E3EC1C3F5}" destId="{38F6EF48-9A09-43E5-98B5-C073F6FB7313}" srcOrd="0" destOrd="3" presId="urn:microsoft.com/office/officeart/2005/8/layout/cycle1"/>
    <dgm:cxn modelId="{4D1A48C0-8D00-4D31-8509-13353002D95E}" srcId="{4867D905-943A-41AD-9921-43EA890745B2}" destId="{FD3B2464-E3D0-4B7B-B569-58CC2D466F31}" srcOrd="0" destOrd="0" parTransId="{E34AB81F-FC38-4583-B33D-268867E2451E}" sibTransId="{B2DBEC25-1619-4D8F-AD7A-1AD2DC49D4C4}"/>
    <dgm:cxn modelId="{74912AD7-9A51-4854-AF96-9AAE2A9513E5}" type="presOf" srcId="{CFF7A0DB-F815-442A-89B8-82D8C9F41696}" destId="{38F6EF48-9A09-43E5-98B5-C073F6FB7313}" srcOrd="0" destOrd="4" presId="urn:microsoft.com/office/officeart/2005/8/layout/cycle1"/>
    <dgm:cxn modelId="{082DA1DA-8C43-4D4F-9EAE-C5ACC0878DEB}" type="presOf" srcId="{4867D905-943A-41AD-9921-43EA890745B2}" destId="{38F6EF48-9A09-43E5-98B5-C073F6FB7313}" srcOrd="0" destOrd="0" presId="urn:microsoft.com/office/officeart/2005/8/layout/cycle1"/>
    <dgm:cxn modelId="{3A4F2FE0-316E-4770-A3A4-085E18DFBE73}" type="presOf" srcId="{E53BC982-072B-47B5-9EDA-13BA43F3458E}" destId="{38F6EF48-9A09-43E5-98B5-C073F6FB7313}" srcOrd="0" destOrd="5" presId="urn:microsoft.com/office/officeart/2005/8/layout/cycle1"/>
    <dgm:cxn modelId="{381B0BEB-3A9F-45D8-85B8-095E0C9E1507}" type="presOf" srcId="{9AB98186-B831-49F7-AAA8-793A1E13C69B}" destId="{38F6EF48-9A09-43E5-98B5-C073F6FB7313}" srcOrd="0" destOrd="7" presId="urn:microsoft.com/office/officeart/2005/8/layout/cycle1"/>
    <dgm:cxn modelId="{95800A29-DEAE-4FA3-8F10-E742B13F3185}" type="presParOf" srcId="{EF475091-F62A-4A62-9F71-8DD12E3A0B4A}" destId="{38F6EF48-9A09-43E5-98B5-C073F6FB7313}" srcOrd="0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6EF48-9A09-43E5-98B5-C073F6FB7313}">
      <dsp:nvSpPr>
        <dsp:cNvPr id="0" name=""/>
        <dsp:cNvSpPr/>
      </dsp:nvSpPr>
      <dsp:spPr>
        <a:xfrm>
          <a:off x="0" y="495274"/>
          <a:ext cx="3221553" cy="3221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Koraci obrade: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/>
            <a:t>Pre-emphasis</a:t>
          </a:r>
          <a:r>
            <a:rPr lang="en-US" sz="1300" kern="1200"/>
            <a:t> – pojačavanje visokih frekvencija radi boljeg odnosa signal/šum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Framing</a:t>
          </a:r>
          <a:r>
            <a:rPr lang="en-US" sz="1300" kern="1200" dirty="0"/>
            <a:t> – </a:t>
          </a:r>
          <a:r>
            <a:rPr lang="en-US" sz="1300" kern="1200" dirty="0" err="1"/>
            <a:t>podela</a:t>
          </a:r>
          <a:r>
            <a:rPr lang="en-US" sz="1300" kern="1200" dirty="0"/>
            <a:t> </a:t>
          </a:r>
          <a:r>
            <a:rPr lang="en-US" sz="1300" kern="1200" dirty="0" err="1"/>
            <a:t>signala</a:t>
          </a:r>
          <a:r>
            <a:rPr lang="en-US" sz="1300" kern="1200" dirty="0"/>
            <a:t> </a:t>
          </a:r>
          <a:r>
            <a:rPr lang="en-US" sz="1300" kern="1200" dirty="0" err="1"/>
            <a:t>na</a:t>
          </a:r>
          <a:r>
            <a:rPr lang="en-US" sz="1300" kern="1200" dirty="0"/>
            <a:t> </a:t>
          </a:r>
          <a:r>
            <a:rPr lang="en-US" sz="1300" kern="1200" dirty="0" err="1"/>
            <a:t>kratke</a:t>
          </a:r>
          <a:r>
            <a:rPr lang="en-US" sz="1300" kern="1200" dirty="0"/>
            <a:t> </a:t>
          </a:r>
          <a:r>
            <a:rPr lang="en-US" sz="1300" kern="1200" dirty="0" err="1"/>
            <a:t>prozore</a:t>
          </a:r>
          <a:r>
            <a:rPr lang="en-US" sz="1300" kern="1200" dirty="0"/>
            <a:t> (20–40 </a:t>
          </a:r>
          <a:r>
            <a:rPr lang="en-US" sz="1300" kern="1200" dirty="0" err="1"/>
            <a:t>ms</a:t>
          </a:r>
          <a:r>
            <a:rPr lang="en-US" sz="1300" kern="1200" dirty="0"/>
            <a:t>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/>
            <a:t>Windowing</a:t>
          </a:r>
          <a:r>
            <a:rPr lang="en-US" sz="1300" kern="1200"/>
            <a:t> – smanjivanje diskontinuiteta (Hamming/Hann prozor)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/>
            <a:t>FFT</a:t>
          </a:r>
          <a:r>
            <a:rPr lang="en-US" sz="1300" kern="1200"/>
            <a:t> – prelazak u frekvencijski domen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 dirty="0"/>
            <a:t>Mel filter-bank</a:t>
          </a:r>
          <a:r>
            <a:rPr lang="en-US" sz="1300" kern="1200" dirty="0"/>
            <a:t> – </a:t>
          </a:r>
          <a:r>
            <a:rPr lang="en-US" sz="1300" kern="1200" dirty="0" err="1"/>
            <a:t>mapiranje</a:t>
          </a:r>
          <a:r>
            <a:rPr lang="en-US" sz="1300" kern="1200" dirty="0"/>
            <a:t> </a:t>
          </a:r>
          <a:r>
            <a:rPr lang="en-US" sz="1300" kern="1200" dirty="0" err="1"/>
            <a:t>na</a:t>
          </a:r>
          <a:r>
            <a:rPr lang="en-US" sz="1300" kern="1200" dirty="0"/>
            <a:t> Mel </a:t>
          </a:r>
          <a:r>
            <a:rPr lang="en-US" sz="1300" kern="1200" dirty="0" err="1"/>
            <a:t>skalu</a:t>
          </a:r>
          <a:r>
            <a:rPr lang="en-US" sz="1300" kern="1200" dirty="0"/>
            <a:t> (</a:t>
          </a:r>
          <a:r>
            <a:rPr lang="en-US" sz="1300" kern="1200" dirty="0" err="1"/>
            <a:t>perceptivno</a:t>
          </a:r>
          <a:r>
            <a:rPr lang="en-US" sz="1300" kern="1200" dirty="0"/>
            <a:t> </a:t>
          </a:r>
          <a:r>
            <a:rPr lang="en-US" sz="1300" kern="1200" dirty="0" err="1"/>
            <a:t>relevantne</a:t>
          </a:r>
          <a:r>
            <a:rPr lang="en-US" sz="1300" kern="1200" dirty="0"/>
            <a:t> </a:t>
          </a:r>
          <a:r>
            <a:rPr lang="en-US" sz="1300" kern="1200" dirty="0" err="1"/>
            <a:t>frekvencije</a:t>
          </a:r>
          <a:r>
            <a:rPr lang="en-US" sz="1300" kern="1200" dirty="0"/>
            <a:t>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/>
            <a:t>Logaritamska kompresija</a:t>
          </a:r>
          <a:r>
            <a:rPr lang="en-US" sz="1300" kern="1200"/>
            <a:t> – stabilizacija amplitude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1" kern="1200"/>
            <a:t>DCT</a:t>
          </a:r>
          <a:r>
            <a:rPr lang="en-US" sz="1300" kern="1200"/>
            <a:t> – generisanje MFCC koeficijenata (13–40)</a:t>
          </a:r>
        </a:p>
      </dsp:txBody>
      <dsp:txXfrm>
        <a:off x="0" y="495274"/>
        <a:ext cx="3221553" cy="32215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00C1-F2F4-3897-1990-381E31367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07390-1F01-AE7D-E16B-AADED28CC8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ADC5C-807D-E0D6-E6F1-7E860162C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E5C70-443A-6096-9AB5-7D5344F3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D47CA-C6F7-ECB8-906D-4D0DF733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9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B5962-9006-4617-9C0B-0E64ED16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72088-13C9-08C3-25EC-BFC4953D9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76EBB-433C-DB61-7244-032CD1F42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DE278-A9E3-7152-C021-DDD927308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EE806-F43E-9A60-11D6-8173622A2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99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20ABB-F239-DCDD-ABEE-2DB40506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22770-D806-EFD2-A6E6-191420EFD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0506F-A184-B802-FF0C-B9F5E12B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9EEAE-3703-13C1-834B-4B239FD3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39C1B-8167-F036-095F-F33F4779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8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84C8-03E6-17C5-E7E5-6B252C98C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95CA5-6359-6663-5300-DF5407DAD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67C0B-A853-C96D-EA63-22DB5A569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FDBF6-E4F5-653B-F3FD-4A85E1E43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21FBA-58D8-6CA6-57D3-9A36F069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45199-CDD2-FC06-6BEB-82FA930FF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8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7A22-4F66-4BB6-7714-F4A18EED0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F37DF-C642-47DD-664D-9F4F2592B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8F2C2-B1BC-56A2-8669-B01BC7D58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189B7-DE0F-9267-8452-D03E48585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78F937-0787-09FF-DADE-9186CB362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D6808F-3513-9159-258E-51C4E9F8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3F853-DC52-AB7C-3B20-430CC6AA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9F9E3-F09F-29C5-882C-62B2285E6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0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C3C4-614D-B511-1CAA-F46DDE9C0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4882D5-35A0-A16C-7B9D-1AD2B40CF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20999-B652-AD78-E0B3-30ACBDB5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1FE08-AC8A-7086-8A73-00225DCA9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543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B91FCA-8517-C20A-5153-7CA34118F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3EAFB-C4CA-4B2B-12D1-B299DE79E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9B95B-9013-3611-BC1C-B30B681B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57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346A-E5F0-91A5-BE8B-8181554B5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F3A1-848D-B861-3871-73771F66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F9DC8-A9FF-015C-B7C4-E8157EF93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5B6D0D-8FE9-6120-FB6B-C420F774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73055-8001-AF42-5A53-35D5C381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15DDB-A8AD-6FD5-BA89-CCD8BCEE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88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1EBC-EBE1-FCA0-6936-B70384696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8106C2-2C2F-4178-DF72-46317B57B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10B5F-100E-15D1-DFA6-2B04B5B776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73582-2CFA-6C4F-C302-DF11EEB6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C61EB-36D7-CF43-43F7-56403EC12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C8934-F46F-F3F3-3356-A44AA165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8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E42D-AC70-629C-EB6A-7005491B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06315-843E-BA9E-9E4C-353103266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75B5F-EBAA-A299-5E7D-4C89BB0E1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297A6-C3B8-615A-9DAB-416A36D6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7EB2E-0DF0-AF9B-EFB7-743DB494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95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4698BD-446E-0470-CB34-B96CF2DF9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AB502-E0AC-2537-5D40-88AB535FA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A77EA-3208-4468-5B76-A555439B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A29EF-C017-B0FB-70C4-0EFF9B621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A7117-BA9E-A500-B91C-AB924E6C9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B8F401-76AF-5850-C2E7-CDF65763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40F7F-D6B5-9969-578A-38DC06EFE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7DA6D-C359-340E-72E2-69650ABBE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53445-1DF6-C4EF-1A0F-99D73E8A4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BEB01-505E-DE08-7814-CF5FC6E25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5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Sistem za Prepoznavanje Jezika iz Govora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3771" y="3017522"/>
            <a:ext cx="745598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/>
            <a:r>
              <a:rPr lang="en-US" sz="2100" dirty="0"/>
              <a:t>Real-time Language Recognition using Deep Learning</a:t>
            </a:r>
          </a:p>
          <a:p>
            <a:pPr indent="-228600" algn="l" defTabSz="914400">
              <a:buFont typeface="Arial" panose="020B0604020202020204" pitchFamily="34" charset="0"/>
              <a:buChar char="•"/>
            </a:pPr>
            <a:endParaRPr lang="en-US" sz="2100" dirty="0"/>
          </a:p>
          <a:p>
            <a:pPr indent="-228600" algn="l" defTabSz="914400">
              <a:buFont typeface="Arial" panose="020B0604020202020204" pitchFamily="34" charset="0"/>
              <a:buChar char="•"/>
            </a:pPr>
            <a:r>
              <a:rPr lang="en-US" sz="2100" dirty="0"/>
              <a:t>Student: Aleksa </a:t>
            </a:r>
            <a:r>
              <a:rPr lang="en-US" sz="2100" dirty="0" err="1"/>
              <a:t>Milić</a:t>
            </a:r>
            <a:r>
              <a:rPr lang="en-US" sz="2100" dirty="0"/>
              <a:t> 1610</a:t>
            </a:r>
          </a:p>
          <a:p>
            <a:pPr indent="-228600" algn="l" defTabSz="914400">
              <a:buFont typeface="Arial" panose="020B0604020202020204" pitchFamily="34" charset="0"/>
              <a:buChar char="•"/>
            </a:pPr>
            <a:r>
              <a:rPr lang="en-US" sz="2100" dirty="0"/>
              <a:t>Mentor: Prof. dr Dragan Janković</a:t>
            </a:r>
          </a:p>
          <a:p>
            <a:pPr indent="-228600" algn="l" defTabSz="914400">
              <a:buFont typeface="Arial" panose="020B0604020202020204" pitchFamily="34" charset="0"/>
              <a:buChar char="•"/>
            </a:pPr>
            <a:r>
              <a:rPr lang="en-US" sz="2100" dirty="0" err="1"/>
              <a:t>Elektronski</a:t>
            </a:r>
            <a:r>
              <a:rPr lang="en-US" sz="2100" dirty="0"/>
              <a:t> </a:t>
            </a:r>
            <a:r>
              <a:rPr lang="en-US" sz="2100" dirty="0" err="1"/>
              <a:t>fakultet</a:t>
            </a:r>
            <a:r>
              <a:rPr lang="en-US" sz="2100" dirty="0"/>
              <a:t>, </a:t>
            </a:r>
            <a:r>
              <a:rPr lang="en-US" sz="2100" dirty="0" err="1"/>
              <a:t>Univerzitet</a:t>
            </a:r>
            <a:r>
              <a:rPr lang="en-US" sz="2100" dirty="0"/>
              <a:t> u </a:t>
            </a:r>
            <a:r>
              <a:rPr lang="en-US" sz="2100" dirty="0" err="1"/>
              <a:t>Nišu</a:t>
            </a:r>
            <a:endParaRPr lang="en-US" sz="2100" dirty="0"/>
          </a:p>
          <a:p>
            <a:pPr indent="-228600" algn="l" defTabSz="914400">
              <a:buFont typeface="Arial" panose="020B0604020202020204" pitchFamily="34" charset="0"/>
              <a:buChar char="•"/>
            </a:pPr>
            <a:r>
              <a:rPr lang="en-US" sz="2100" dirty="0"/>
              <a:t>2025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22" y="1238080"/>
            <a:ext cx="7387313" cy="1349671"/>
          </a:xfrm>
        </p:spPr>
        <p:txBody>
          <a:bodyPr anchor="b">
            <a:norm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rPr lang="en-US" sz="4300"/>
              <a:t>Zašto je prepoznavanje jezika važno?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2902913"/>
            <a:ext cx="7387313" cy="3032168"/>
          </a:xfrm>
        </p:spPr>
        <p:txBody>
          <a:bodyPr anchor="ctr">
            <a:normAutofit/>
          </a:bodyPr>
          <a:lstStyle/>
          <a:p>
            <a:pPr>
              <a:defRPr sz="2200">
                <a:solidFill>
                  <a:srgbClr val="34495E"/>
                </a:solidFill>
              </a:defRPr>
            </a:pPr>
            <a:r>
              <a:rPr lang="en-US" sz="1700" dirty="0"/>
              <a:t>🌍 </a:t>
            </a:r>
            <a:r>
              <a:rPr lang="en-US" sz="1700" dirty="0" err="1"/>
              <a:t>Globalizacija</a:t>
            </a:r>
            <a:r>
              <a:rPr lang="en-US" sz="1700" dirty="0"/>
              <a:t> – </a:t>
            </a:r>
            <a:r>
              <a:rPr lang="en-US" sz="1700" dirty="0" err="1"/>
              <a:t>međunarodna</a:t>
            </a:r>
            <a:r>
              <a:rPr lang="en-US" sz="1700" dirty="0"/>
              <a:t> </a:t>
            </a:r>
            <a:r>
              <a:rPr lang="en-US" sz="1700" dirty="0" err="1"/>
              <a:t>komunikacija</a:t>
            </a:r>
            <a:endParaRPr lang="en-US" sz="1700" dirty="0"/>
          </a:p>
          <a:p>
            <a:pPr>
              <a:defRPr sz="2200">
                <a:solidFill>
                  <a:srgbClr val="34495E"/>
                </a:solidFill>
              </a:defRPr>
            </a:pPr>
            <a:r>
              <a:rPr lang="en-US" sz="1700" dirty="0"/>
              <a:t>📞 Call </a:t>
            </a:r>
            <a:r>
              <a:rPr lang="en-US" sz="1700" dirty="0" err="1"/>
              <a:t>centri</a:t>
            </a:r>
            <a:r>
              <a:rPr lang="en-US" sz="1700" dirty="0"/>
              <a:t> – </a:t>
            </a:r>
            <a:r>
              <a:rPr lang="en-US" sz="1700" dirty="0" err="1"/>
              <a:t>automatsko</a:t>
            </a:r>
            <a:r>
              <a:rPr lang="en-US" sz="1700" dirty="0"/>
              <a:t> </a:t>
            </a:r>
            <a:r>
              <a:rPr lang="en-US" sz="1700" dirty="0" err="1"/>
              <a:t>rutiranje</a:t>
            </a:r>
            <a:endParaRPr lang="en-US" sz="1700" dirty="0"/>
          </a:p>
          <a:p>
            <a:pPr>
              <a:defRPr sz="2200">
                <a:solidFill>
                  <a:srgbClr val="34495E"/>
                </a:solidFill>
              </a:defRPr>
            </a:pPr>
            <a:r>
              <a:rPr lang="en-US" sz="1700" dirty="0"/>
              <a:t>🎬 Streaming – </a:t>
            </a:r>
            <a:r>
              <a:rPr lang="en-US" sz="1700" dirty="0" err="1"/>
              <a:t>kategorizacija</a:t>
            </a:r>
            <a:endParaRPr lang="en-US" sz="1700" dirty="0"/>
          </a:p>
          <a:p>
            <a:pPr>
              <a:defRPr sz="2200">
                <a:solidFill>
                  <a:srgbClr val="34495E"/>
                </a:solidFill>
              </a:defRPr>
            </a:pPr>
            <a:r>
              <a:rPr lang="en-US" sz="1700" dirty="0"/>
              <a:t>🔒 </a:t>
            </a:r>
            <a:r>
              <a:rPr lang="en-US" sz="1700" dirty="0" err="1"/>
              <a:t>Bezbednost</a:t>
            </a:r>
            <a:r>
              <a:rPr lang="en-US" sz="1700" dirty="0"/>
              <a:t> – </a:t>
            </a:r>
            <a:r>
              <a:rPr lang="en-US" sz="1700" dirty="0" err="1"/>
              <a:t>analiza</a:t>
            </a:r>
            <a:endParaRPr lang="en-US" sz="1700" dirty="0"/>
          </a:p>
          <a:p>
            <a:pPr>
              <a:defRPr sz="2200">
                <a:solidFill>
                  <a:srgbClr val="34495E"/>
                </a:solidFill>
              </a:defRPr>
            </a:pPr>
            <a:r>
              <a:rPr lang="en-US" sz="1700" dirty="0"/>
              <a:t>💰 </a:t>
            </a:r>
            <a:r>
              <a:rPr lang="en-US" sz="1700" dirty="0" err="1"/>
              <a:t>Tržište</a:t>
            </a:r>
            <a:r>
              <a:rPr lang="en-US" sz="1700" dirty="0"/>
              <a:t> &gt;10B USD</a:t>
            </a:r>
            <a:br>
              <a:rPr lang="en-US" sz="1700" dirty="0"/>
            </a:br>
            <a:br>
              <a:rPr lang="en-US" sz="1700" dirty="0"/>
            </a:br>
            <a:r>
              <a:rPr lang="en-US" sz="1700" dirty="0"/>
              <a:t>Stopa rasta: 15% </a:t>
            </a:r>
            <a:r>
              <a:rPr lang="en-US" sz="1700" dirty="0" err="1"/>
              <a:t>godišnje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rPr lang="en-US" sz="4000"/>
              <a:t>Izazovi u prepoznavanju jezika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>
              <a:defRPr sz="2200">
                <a:solidFill>
                  <a:srgbClr val="34495E"/>
                </a:solidFill>
              </a:defRPr>
            </a:pPr>
            <a:r>
              <a:rPr lang="en-US" sz="2200"/>
              <a:t>🎤 Varijabilnost govornika</a:t>
            </a:r>
          </a:p>
          <a:p>
            <a:pPr>
              <a:defRPr sz="2200">
                <a:solidFill>
                  <a:srgbClr val="34495E"/>
                </a:solidFill>
              </a:defRPr>
            </a:pPr>
            <a:r>
              <a:rPr lang="en-US" sz="2200"/>
              <a:t>📊 Kvalitet snimanja</a:t>
            </a:r>
          </a:p>
          <a:p>
            <a:pPr>
              <a:defRPr sz="2200">
                <a:solidFill>
                  <a:srgbClr val="34495E"/>
                </a:solidFill>
              </a:defRPr>
            </a:pPr>
            <a:r>
              <a:rPr lang="en-US" sz="2200"/>
              <a:t>⏱️ Kratki segmenti</a:t>
            </a:r>
          </a:p>
          <a:p>
            <a:pPr>
              <a:defRPr sz="2200">
                <a:solidFill>
                  <a:srgbClr val="34495E"/>
                </a:solidFill>
              </a:defRPr>
            </a:pPr>
            <a:r>
              <a:rPr lang="en-US" sz="2200"/>
              <a:t>🗣️ Sličnost jezika</a:t>
            </a:r>
          </a:p>
          <a:p>
            <a:pPr>
              <a:defRPr sz="2200">
                <a:solidFill>
                  <a:srgbClr val="34495E"/>
                </a:solidFill>
              </a:defRPr>
            </a:pPr>
            <a:r>
              <a:rPr lang="en-US" sz="2200"/>
              <a:t>🔄 Code-switching</a:t>
            </a:r>
            <a:br>
              <a:rPr lang="en-US" sz="2200"/>
            </a:br>
            <a:br>
              <a:rPr lang="en-US" sz="2200"/>
            </a:br>
            <a:r>
              <a:rPr lang="en-US" sz="2200"/>
              <a:t>Tekst vs Audio – različita stabilnost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rPr lang="en-US" sz="4200" dirty="0" err="1"/>
              <a:t>Arhitektura</a:t>
            </a:r>
            <a:r>
              <a:rPr lang="en-US" sz="4200" dirty="0"/>
              <a:t> </a:t>
            </a:r>
            <a:r>
              <a:rPr lang="en-US" sz="4200" dirty="0" err="1"/>
              <a:t>sistema</a:t>
            </a:r>
            <a:endParaRPr lang="en-US" sz="4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688" y="2527255"/>
            <a:ext cx="3620731" cy="394381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200" b="1" dirty="0"/>
              <a:t>Audio → Preprocessing → </a:t>
            </a:r>
            <a:r>
              <a:rPr lang="en-US" sz="1200" b="1" dirty="0" err="1"/>
              <a:t>Ekstrakcija</a:t>
            </a:r>
            <a:r>
              <a:rPr lang="en-US" sz="1200" b="1" dirty="0"/>
              <a:t> </a:t>
            </a:r>
            <a:r>
              <a:rPr lang="en-US" sz="1200" b="1" dirty="0" err="1"/>
              <a:t>karakteristika</a:t>
            </a:r>
            <a:r>
              <a:rPr lang="en-US" sz="1200" b="1" dirty="0"/>
              <a:t> → Model → </a:t>
            </a:r>
            <a:r>
              <a:rPr lang="en-US" sz="1200" b="1" dirty="0" err="1"/>
              <a:t>Prepoznati</a:t>
            </a:r>
            <a:r>
              <a:rPr lang="en-US" sz="1200" b="1" dirty="0"/>
              <a:t> </a:t>
            </a:r>
            <a:r>
              <a:rPr lang="en-US" sz="1200" b="1" dirty="0" err="1"/>
              <a:t>jezik</a:t>
            </a:r>
            <a:endParaRPr lang="en-US" sz="1200" b="1" dirty="0"/>
          </a:p>
          <a:p>
            <a:pPr marL="0" indent="0">
              <a:buNone/>
            </a:pPr>
            <a:endParaRPr lang="en-US" sz="1200" dirty="0"/>
          </a:p>
          <a:p>
            <a:r>
              <a:rPr lang="en-US" sz="1200" b="1" dirty="0"/>
              <a:t>Audio Processor</a:t>
            </a:r>
            <a:endParaRPr lang="en-US" sz="1200" dirty="0"/>
          </a:p>
          <a:p>
            <a:pPr lvl="1"/>
            <a:r>
              <a:rPr lang="en-US" sz="1200" dirty="0" err="1"/>
              <a:t>Učitavanje</a:t>
            </a:r>
            <a:r>
              <a:rPr lang="en-US" sz="1200" dirty="0"/>
              <a:t> audio </a:t>
            </a:r>
            <a:r>
              <a:rPr lang="en-US" sz="1200" dirty="0" err="1"/>
              <a:t>fajlova</a:t>
            </a:r>
            <a:r>
              <a:rPr lang="en-US" sz="1200" dirty="0"/>
              <a:t> (WAV/MP3)</a:t>
            </a:r>
          </a:p>
          <a:p>
            <a:pPr lvl="1"/>
            <a:r>
              <a:rPr lang="en-US" sz="1200" dirty="0" err="1"/>
              <a:t>Normalizacija</a:t>
            </a:r>
            <a:r>
              <a:rPr lang="en-US" sz="1200" dirty="0"/>
              <a:t> </a:t>
            </a:r>
            <a:r>
              <a:rPr lang="en-US" sz="1200" dirty="0" err="1"/>
              <a:t>signala</a:t>
            </a:r>
            <a:r>
              <a:rPr lang="en-US" sz="1200" dirty="0"/>
              <a:t> (16 kHz, mono)</a:t>
            </a:r>
          </a:p>
          <a:p>
            <a:r>
              <a:rPr lang="en-US" sz="1200" b="1" dirty="0"/>
              <a:t>Feature Extraction</a:t>
            </a:r>
            <a:endParaRPr lang="en-US" sz="1200" dirty="0"/>
          </a:p>
          <a:p>
            <a:pPr lvl="1"/>
            <a:r>
              <a:rPr lang="en-US" sz="1200" dirty="0"/>
              <a:t>MFCC </a:t>
            </a:r>
            <a:r>
              <a:rPr lang="en-US" sz="1200" dirty="0" err="1"/>
              <a:t>i</a:t>
            </a:r>
            <a:r>
              <a:rPr lang="en-US" sz="1200" dirty="0"/>
              <a:t> Mel-</a:t>
            </a:r>
            <a:r>
              <a:rPr lang="en-US" sz="1200" dirty="0" err="1"/>
              <a:t>spektrogram</a:t>
            </a:r>
            <a:endParaRPr lang="en-US" sz="1200" dirty="0"/>
          </a:p>
          <a:p>
            <a:pPr lvl="1"/>
            <a:r>
              <a:rPr lang="en-US" sz="1200" dirty="0" err="1"/>
              <a:t>Generisanje</a:t>
            </a:r>
            <a:r>
              <a:rPr lang="en-US" sz="1200" dirty="0"/>
              <a:t> </a:t>
            </a:r>
            <a:r>
              <a:rPr lang="en-US" sz="1200" dirty="0" err="1"/>
              <a:t>kompaktnih</a:t>
            </a:r>
            <a:r>
              <a:rPr lang="en-US" sz="1200" dirty="0"/>
              <a:t> </a:t>
            </a:r>
            <a:r>
              <a:rPr lang="en-US" sz="1200" dirty="0" err="1"/>
              <a:t>akustičkih</a:t>
            </a:r>
            <a:r>
              <a:rPr lang="en-US" sz="1200" dirty="0"/>
              <a:t> </a:t>
            </a:r>
            <a:r>
              <a:rPr lang="en-US" sz="1200" dirty="0" err="1"/>
              <a:t>reprezentacija</a:t>
            </a:r>
            <a:endParaRPr lang="en-US" sz="1200" dirty="0"/>
          </a:p>
          <a:p>
            <a:r>
              <a:rPr lang="en-US" sz="1200" b="1" dirty="0" err="1"/>
              <a:t>Modeli</a:t>
            </a:r>
            <a:r>
              <a:rPr lang="en-US" sz="1200" b="1" dirty="0"/>
              <a:t> za </a:t>
            </a:r>
            <a:r>
              <a:rPr lang="en-US" sz="1200" b="1" dirty="0" err="1"/>
              <a:t>klasifikaciju</a:t>
            </a:r>
            <a:r>
              <a:rPr lang="en-US" sz="1200" b="1" dirty="0"/>
              <a:t> </a:t>
            </a:r>
            <a:r>
              <a:rPr lang="en-US" sz="1200" b="1" dirty="0" err="1"/>
              <a:t>jezika</a:t>
            </a:r>
            <a:endParaRPr lang="en-US" sz="1200" dirty="0"/>
          </a:p>
          <a:p>
            <a:pPr lvl="1"/>
            <a:r>
              <a:rPr lang="en-US" sz="1200" dirty="0"/>
              <a:t>CNN (</a:t>
            </a:r>
            <a:r>
              <a:rPr lang="en-US" sz="1200" dirty="0" err="1"/>
              <a:t>analiza</a:t>
            </a:r>
            <a:r>
              <a:rPr lang="en-US" sz="1200" dirty="0"/>
              <a:t> </a:t>
            </a:r>
            <a:r>
              <a:rPr lang="en-US" sz="1200" dirty="0" err="1"/>
              <a:t>spektrograma</a:t>
            </a:r>
            <a:r>
              <a:rPr lang="en-US" sz="1200" dirty="0"/>
              <a:t>)</a:t>
            </a:r>
          </a:p>
          <a:p>
            <a:pPr lvl="1"/>
            <a:r>
              <a:rPr lang="en-US" sz="1200" dirty="0"/>
              <a:t>RNN/LSTM (</a:t>
            </a:r>
            <a:r>
              <a:rPr lang="en-US" sz="1200" dirty="0" err="1"/>
              <a:t>sekvencijalni</a:t>
            </a:r>
            <a:r>
              <a:rPr lang="en-US" sz="1200" dirty="0"/>
              <a:t> audio </a:t>
            </a:r>
            <a:r>
              <a:rPr lang="en-US" sz="1200" dirty="0" err="1"/>
              <a:t>tok</a:t>
            </a:r>
            <a:r>
              <a:rPr lang="en-US" sz="1200" dirty="0"/>
              <a:t>)</a:t>
            </a:r>
          </a:p>
          <a:p>
            <a:pPr lvl="1"/>
            <a:r>
              <a:rPr lang="en-US" sz="1200" dirty="0"/>
              <a:t>Wav2Vec (self-supervised embeddings)</a:t>
            </a:r>
          </a:p>
          <a:p>
            <a:pPr lvl="1"/>
            <a:r>
              <a:rPr lang="en-US" sz="1200" dirty="0" err="1"/>
              <a:t>Hibridni</a:t>
            </a:r>
            <a:r>
              <a:rPr lang="en-US" sz="1200" dirty="0"/>
              <a:t> CNN-RNN</a:t>
            </a:r>
          </a:p>
          <a:p>
            <a:pPr lvl="1"/>
            <a:r>
              <a:rPr lang="en-US" sz="1200" dirty="0"/>
              <a:t>SVM (</a:t>
            </a:r>
            <a:r>
              <a:rPr lang="en-US" sz="1200" dirty="0" err="1"/>
              <a:t>bazna</a:t>
            </a:r>
            <a:r>
              <a:rPr lang="en-US" sz="1200" dirty="0"/>
              <a:t> ML </a:t>
            </a:r>
            <a:r>
              <a:rPr lang="en-US" sz="1200" dirty="0" err="1"/>
              <a:t>metoda</a:t>
            </a:r>
            <a:r>
              <a:rPr lang="en-US" sz="1200" dirty="0"/>
              <a:t>)</a:t>
            </a:r>
          </a:p>
          <a:p>
            <a:pPr marL="457200" lvl="1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 err="1"/>
              <a:t>Podržani</a:t>
            </a:r>
            <a:r>
              <a:rPr lang="en-US" sz="1200" b="1" dirty="0"/>
              <a:t> </a:t>
            </a:r>
            <a:r>
              <a:rPr lang="en-US" sz="1200" b="1" dirty="0" err="1"/>
              <a:t>jezici</a:t>
            </a:r>
            <a:r>
              <a:rPr lang="en-US" sz="1200" b="1" dirty="0"/>
              <a:t>:</a:t>
            </a:r>
            <a:r>
              <a:rPr lang="en-US" sz="1200" dirty="0"/>
              <a:t> EN, SR, DE, ES, FR</a:t>
            </a:r>
          </a:p>
          <a:p>
            <a:pPr>
              <a:defRPr sz="2200">
                <a:solidFill>
                  <a:srgbClr val="34495E"/>
                </a:solidFill>
              </a:defRPr>
            </a:pPr>
            <a:endParaRPr lang="en-US" sz="1200" dirty="0"/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BF00DBE6-522B-3246-83BC-51EBC829C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29" r="8630" b="-3"/>
          <a:stretch>
            <a:fillRect/>
          </a:stretch>
        </p:blipFill>
        <p:spPr>
          <a:xfrm>
            <a:off x="4199537" y="2120636"/>
            <a:ext cx="4524327" cy="435043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591" y="361949"/>
            <a:ext cx="2989616" cy="1236201"/>
          </a:xfrm>
        </p:spPr>
        <p:txBody>
          <a:bodyPr anchor="b">
            <a:norm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rPr lang="en-US" sz="3500" dirty="0"/>
              <a:t>MFCC </a:t>
            </a:r>
            <a:r>
              <a:rPr lang="en-US" sz="3500" dirty="0" err="1"/>
              <a:t>Ekstrakcija</a:t>
            </a:r>
            <a:endParaRPr lang="en-US" sz="3500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05E75227-3A23-48A0-F01D-C16DA12281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517280"/>
              </p:ext>
            </p:extLst>
          </p:nvPr>
        </p:nvGraphicFramePr>
        <p:xfrm>
          <a:off x="521591" y="1960098"/>
          <a:ext cx="3221553" cy="4212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41434BD-BA03-096B-313E-A32E5E9151B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2067" r="4197" b="2"/>
          <a:stretch>
            <a:fillRect/>
          </a:stretch>
        </p:blipFill>
        <p:spPr>
          <a:xfrm>
            <a:off x="3889915" y="163646"/>
            <a:ext cx="5105027" cy="2623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59AE45-8C3C-679F-B4F3-EFA2F9E7396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332" r="21385" b="-1"/>
          <a:stretch>
            <a:fillRect/>
          </a:stretch>
        </p:blipFill>
        <p:spPr>
          <a:xfrm>
            <a:off x="3889915" y="3146045"/>
            <a:ext cx="5105027" cy="3352653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FC14DFA2-57AF-F4C2-8919-AFECD3AAAB27}"/>
              </a:ext>
            </a:extLst>
          </p:cNvPr>
          <p:cNvSpPr/>
          <p:nvPr/>
        </p:nvSpPr>
        <p:spPr>
          <a:xfrm>
            <a:off x="6442428" y="2691493"/>
            <a:ext cx="190500" cy="35930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rPr lang="en-US" sz="2800"/>
              <a:t>Implementirani modeli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av2Vec 2.0: Self-Supervised Learning of Speech Representations">
            <a:extLst>
              <a:ext uri="{FF2B5EF4-FFF2-40B4-BE49-F238E27FC236}">
                <a16:creationId xmlns:a16="http://schemas.microsoft.com/office/drawing/2014/main" id="{50157D54-B6E4-4410-C6BD-4A044B73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403" y="548261"/>
            <a:ext cx="7777234" cy="349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Rectangle 103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r>
              <a:rPr lang="en-US" sz="1500"/>
              <a:t>SVM – </a:t>
            </a:r>
            <a:r>
              <a:rPr lang="en-US" sz="1500" b="1"/>
              <a:t>86.31%</a:t>
            </a:r>
            <a:endParaRPr lang="en-US" sz="1500"/>
          </a:p>
          <a:p>
            <a:r>
              <a:rPr lang="en-US" sz="1500"/>
              <a:t>Hybrid – </a:t>
            </a:r>
            <a:r>
              <a:rPr lang="en-US" sz="1500" b="1"/>
              <a:t>87.63%</a:t>
            </a:r>
            <a:endParaRPr lang="en-US" sz="1500"/>
          </a:p>
          <a:p>
            <a:r>
              <a:rPr lang="en-US" sz="1500"/>
              <a:t>CNN – </a:t>
            </a:r>
            <a:r>
              <a:rPr lang="en-US" sz="1500" b="1"/>
              <a:t>87.75%</a:t>
            </a:r>
            <a:endParaRPr lang="en-US" sz="1500"/>
          </a:p>
          <a:p>
            <a:r>
              <a:rPr lang="en-US" sz="1500"/>
              <a:t>RNN – </a:t>
            </a:r>
            <a:r>
              <a:rPr lang="en-US" sz="1500" b="1"/>
              <a:t>88.59%</a:t>
            </a:r>
            <a:endParaRPr lang="en-US" sz="1500"/>
          </a:p>
          <a:p>
            <a:r>
              <a:rPr lang="en-US" sz="1500"/>
              <a:t>⭐ </a:t>
            </a:r>
            <a:r>
              <a:rPr lang="en-US" sz="1500" b="1"/>
              <a:t>Wav2Vec – 89.31%</a:t>
            </a:r>
            <a:endParaRPr lang="en-US" sz="15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CD8BA3-E0C7-FB0A-3DD5-8CFA500E5026}"/>
              </a:ext>
            </a:extLst>
          </p:cNvPr>
          <p:cNvSpPr txBox="1"/>
          <p:nvPr/>
        </p:nvSpPr>
        <p:spPr>
          <a:xfrm>
            <a:off x="1016382" y="4077392"/>
            <a:ext cx="8184259" cy="481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i="1" dirty="0"/>
              <a:t>Wav2Vec </a:t>
            </a:r>
            <a:r>
              <a:rPr lang="en-US" sz="1400" i="1" dirty="0" err="1"/>
              <a:t>arhitektura</a:t>
            </a:r>
            <a:r>
              <a:rPr lang="en-US" sz="1400" i="1" dirty="0"/>
              <a:t> </a:t>
            </a:r>
            <a:r>
              <a:rPr lang="en-US" sz="1400" i="1" dirty="0" err="1"/>
              <a:t>koristi</a:t>
            </a:r>
            <a:r>
              <a:rPr lang="en-US" sz="1400" i="1" dirty="0"/>
              <a:t> CNN za </a:t>
            </a:r>
            <a:r>
              <a:rPr lang="en-US" sz="1400" i="1" dirty="0" err="1"/>
              <a:t>ekstrakciju</a:t>
            </a:r>
            <a:r>
              <a:rPr lang="en-US" sz="1400" i="1" dirty="0"/>
              <a:t> </a:t>
            </a:r>
            <a:r>
              <a:rPr lang="en-US" sz="1400" i="1" dirty="0" err="1"/>
              <a:t>latentnih</a:t>
            </a:r>
            <a:r>
              <a:rPr lang="en-US" sz="1400" i="1" dirty="0"/>
              <a:t> </a:t>
            </a:r>
            <a:r>
              <a:rPr lang="en-US" sz="1400" i="1" dirty="0" err="1"/>
              <a:t>govornih</a:t>
            </a:r>
            <a:r>
              <a:rPr lang="en-US" sz="1400" i="1" dirty="0"/>
              <a:t> </a:t>
            </a:r>
            <a:r>
              <a:rPr lang="en-US" sz="1400" i="1" dirty="0" err="1"/>
              <a:t>reprezentacija</a:t>
            </a:r>
            <a:r>
              <a:rPr lang="en-US" sz="1400" i="1" dirty="0"/>
              <a:t> </a:t>
            </a:r>
            <a:r>
              <a:rPr lang="en-US" sz="1400" i="1" dirty="0" err="1"/>
              <a:t>i</a:t>
            </a:r>
            <a:r>
              <a:rPr lang="en-US" sz="1400" i="1" dirty="0"/>
              <a:t> Transformer za </a:t>
            </a:r>
            <a:r>
              <a:rPr lang="en-US" sz="1400" i="1" dirty="0" err="1"/>
              <a:t>modelovanje</a:t>
            </a:r>
            <a:r>
              <a:rPr lang="en-US" sz="1400" i="1" dirty="0"/>
              <a:t> </a:t>
            </a:r>
            <a:r>
              <a:rPr lang="en-US" sz="1400" i="1" dirty="0" err="1"/>
              <a:t>konteksta</a:t>
            </a:r>
            <a:r>
              <a:rPr lang="en-US" sz="1400" i="1" dirty="0"/>
              <a:t>, </a:t>
            </a:r>
            <a:r>
              <a:rPr lang="en-US" sz="1400" i="1" dirty="0" err="1"/>
              <a:t>što</a:t>
            </a:r>
            <a:r>
              <a:rPr lang="en-US" sz="1400" i="1" dirty="0"/>
              <a:t> </a:t>
            </a:r>
            <a:r>
              <a:rPr lang="en-US" sz="1400" i="1" dirty="0" err="1"/>
              <a:t>daje</a:t>
            </a:r>
            <a:r>
              <a:rPr lang="en-US" sz="1400" i="1" dirty="0"/>
              <a:t> </a:t>
            </a:r>
            <a:r>
              <a:rPr lang="en-US" sz="1400" i="1" dirty="0" err="1"/>
              <a:t>najbolje</a:t>
            </a:r>
            <a:r>
              <a:rPr lang="en-US" sz="1400" i="1" dirty="0"/>
              <a:t> </a:t>
            </a:r>
            <a:r>
              <a:rPr lang="en-US" sz="1400" i="1" dirty="0" err="1"/>
              <a:t>rezultate</a:t>
            </a:r>
            <a:r>
              <a:rPr lang="en-US" sz="1400" i="1" dirty="0"/>
              <a:t> u </a:t>
            </a:r>
            <a:r>
              <a:rPr lang="en-US" sz="1400" i="1" dirty="0" err="1"/>
              <a:t>eksperimentu</a:t>
            </a:r>
            <a:r>
              <a:rPr lang="en-US" sz="1400" i="1" dirty="0"/>
              <a:t>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defRPr sz="3600" b="1">
                <a:solidFill>
                  <a:srgbClr val="2C3E50"/>
                </a:solidFill>
              </a:defRPr>
            </a:pPr>
            <a:r>
              <a:rPr lang="en-US" sz="2800" kern="1200">
                <a:latin typeface="+mj-lt"/>
                <a:ea typeface="+mj-ea"/>
                <a:cs typeface="+mj-cs"/>
              </a:rPr>
              <a:t>Proces treniranja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/>
              <a:t>Grafikon prikazuje:</a:t>
            </a:r>
          </a:p>
          <a:p>
            <a:r>
              <a:rPr lang="en-US" sz="1600"/>
              <a:t>- Training &amp; Validation Accuracy</a:t>
            </a:r>
          </a:p>
          <a:p>
            <a:r>
              <a:rPr lang="en-US" sz="1600"/>
              <a:t>- Loss funkcija kroz epohe</a:t>
            </a:r>
          </a:p>
          <a:p>
            <a:r>
              <a:rPr lang="en-US" sz="1600"/>
              <a:t>- Konvergencija bez overfitting-a</a:t>
            </a:r>
          </a:p>
          <a:p>
            <a:r>
              <a:rPr lang="en-US" sz="1600"/>
              <a:t>- Stabilno učenje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530BF-7BED-ACFE-69A1-FEA72CBF88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942"/>
          <a:stretch>
            <a:fillRect/>
          </a:stretch>
        </p:blipFill>
        <p:spPr>
          <a:xfrm>
            <a:off x="418684" y="2734056"/>
            <a:ext cx="8372926" cy="348386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3958A7B-21CA-93C6-7FD9-1D1D44EC0D1C}"/>
              </a:ext>
            </a:extLst>
          </p:cNvPr>
          <p:cNvSpPr txBox="1"/>
          <p:nvPr/>
        </p:nvSpPr>
        <p:spPr>
          <a:xfrm>
            <a:off x="607138" y="6216150"/>
            <a:ext cx="8184259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i="1"/>
              <a:t>Training curves pokazuju stabilnu konvergenciju svih modela bez znakova overfitting-a. Validation accuracy prati training accuracy, što ukazuje na dobru generalizaciju.</a:t>
            </a:r>
            <a:endParaRPr 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60" y="525982"/>
            <a:ext cx="3212237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defRPr sz="3600" b="1">
                <a:solidFill>
                  <a:srgbClr val="2C3E50"/>
                </a:solidFill>
              </a:defRPr>
            </a:pPr>
            <a:r>
              <a:rPr lang="en-US" sz="2600" b="1"/>
              <a:t>Real-time Interface</a:t>
            </a:r>
            <a:br>
              <a:rPr lang="en-US" sz="2600"/>
            </a:br>
            <a:endParaRPr lang="en-US" sz="2600" kern="12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7227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675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AF6E1E-9E7B-4E7B-FAF1-BFEF43405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83" y="879704"/>
            <a:ext cx="4221013" cy="486572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5833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9259" y="2031101"/>
            <a:ext cx="3212238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400"/>
              <a:t>🎤 </a:t>
            </a:r>
            <a:r>
              <a:rPr lang="en-US" sz="1400" b="1"/>
              <a:t>Mikrofon</a:t>
            </a:r>
            <a:br>
              <a:rPr lang="en-US" sz="1400"/>
            </a:br>
            <a:r>
              <a:rPr lang="en-US" sz="1400"/>
              <a:t>• Real-time detekcija</a:t>
            </a:r>
            <a:br>
              <a:rPr lang="en-US" sz="1400"/>
            </a:br>
            <a:r>
              <a:rPr lang="en-US" sz="1400"/>
              <a:t>• Obrada na 2s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400"/>
              <a:t>📁 </a:t>
            </a:r>
            <a:r>
              <a:rPr lang="en-US" sz="1400" b="1"/>
              <a:t>Audio fajlovi</a:t>
            </a:r>
            <a:br>
              <a:rPr lang="en-US" sz="1400"/>
            </a:br>
            <a:r>
              <a:rPr lang="en-US" sz="1400"/>
              <a:t>• WAV/MP3/FLAC/M4A</a:t>
            </a:r>
            <a:br>
              <a:rPr lang="en-US" sz="1400"/>
            </a:br>
            <a:r>
              <a:rPr lang="en-US" sz="1400"/>
              <a:t>• Instant analiza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400"/>
              <a:t>📊 </a:t>
            </a:r>
            <a:r>
              <a:rPr lang="en-US" sz="1400" b="1"/>
              <a:t>Pouzdanost</a:t>
            </a:r>
            <a:br>
              <a:rPr lang="en-US" sz="1400"/>
            </a:br>
            <a:r>
              <a:rPr lang="en-US" sz="1400"/>
              <a:t>• ✅ &gt;80% • 🟧 60–80% • ❌ &lt;60%</a:t>
            </a:r>
          </a:p>
          <a:p>
            <a:pPr>
              <a:buNone/>
            </a:pPr>
            <a:endParaRPr lang="en-US" sz="1400"/>
          </a:p>
          <a:p>
            <a:pPr>
              <a:buNone/>
            </a:pPr>
            <a:r>
              <a:rPr lang="en-US" sz="1400"/>
              <a:t>🕒 </a:t>
            </a:r>
            <a:r>
              <a:rPr lang="en-US" sz="1400" b="1"/>
              <a:t>Istorija</a:t>
            </a:r>
            <a:br>
              <a:rPr lang="en-US" sz="1400"/>
            </a:br>
            <a:r>
              <a:rPr lang="en-US" sz="1400"/>
              <a:t>• Timestamp + procenat</a:t>
            </a:r>
            <a:br>
              <a:rPr lang="en-US" sz="1400"/>
            </a:br>
            <a:r>
              <a:rPr lang="en-US" sz="1400"/>
              <a:t>• Poslednjih 5 detekcija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65301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rPr lang="pl-PL" sz="4200"/>
              <a:t>Matrica konfuzije i analiza po jezicima</a:t>
            </a:r>
            <a:endParaRPr lang="en-US" sz="42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1"/>
              <a:t>Tamno plava</a:t>
            </a:r>
            <a:r>
              <a:rPr lang="en-US" sz="1400"/>
              <a:t> → Tačne predikcije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/>
              <a:t>Svetlo plava</a:t>
            </a:r>
            <a:r>
              <a:rPr lang="en-US" sz="1400"/>
              <a:t> → Greške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Broj u ćelijama → Broj uzoraka</a:t>
            </a:r>
          </a:p>
          <a:p>
            <a:pPr>
              <a:buNone/>
            </a:pPr>
            <a:r>
              <a:rPr lang="en-US" sz="1400" b="1"/>
              <a:t>📊 Dominantna dijagonala</a:t>
            </a:r>
            <a:endParaRPr lang="en-US" sz="1400"/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Većina uzoraka tačno klasifikovana (~1700 po jeziku)</a:t>
            </a:r>
          </a:p>
          <a:p>
            <a:pPr>
              <a:buNone/>
            </a:pPr>
            <a:r>
              <a:rPr lang="en-US" sz="1400" b="1"/>
              <a:t>⚠️ Najveće greške</a:t>
            </a:r>
            <a:endParaRPr lang="en-US" sz="1400"/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100–110 uzoraka: English ↔ German, Serbian ↔ French</a:t>
            </a:r>
          </a:p>
          <a:p>
            <a:pPr>
              <a:buNone/>
            </a:pPr>
            <a:r>
              <a:rPr lang="en-US" sz="1400" b="1"/>
              <a:t>✅ Dataset balansiran</a:t>
            </a:r>
            <a:endParaRPr lang="en-US" sz="1400"/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~2000 uzoraka po jeziku, ukupno 10,018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/>
              <a:t>Ukupna tačnost: 89.31%</a:t>
            </a:r>
            <a:endParaRPr lang="en-US" sz="1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1CEDAB-D928-B3B0-7BC5-94EFDC77F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49" y="2719040"/>
            <a:ext cx="3862707" cy="324467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584" y="512064"/>
            <a:ext cx="3048521" cy="2825496"/>
          </a:xfrm>
        </p:spPr>
        <p:txBody>
          <a:bodyPr anchor="t">
            <a:norm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rPr lang="en-US" sz="4400" b="1" dirty="0" err="1"/>
              <a:t>Zaključak</a:t>
            </a:r>
            <a:r>
              <a:rPr lang="en-US" sz="4400" b="1" dirty="0"/>
              <a:t> </a:t>
            </a:r>
            <a:br>
              <a:rPr lang="en-US" sz="4400" b="1" dirty="0"/>
            </a:br>
            <a:r>
              <a:rPr lang="en-US" sz="4400" b="1" dirty="0" err="1"/>
              <a:t>i</a:t>
            </a:r>
            <a:r>
              <a:rPr lang="en-US" sz="4400" b="1" dirty="0"/>
              <a:t> </a:t>
            </a:r>
            <a:r>
              <a:rPr lang="en-US" sz="4400" b="1" dirty="0" err="1"/>
              <a:t>lična</a:t>
            </a:r>
            <a:r>
              <a:rPr lang="en-US" sz="4400" b="1" dirty="0"/>
              <a:t> </a:t>
            </a:r>
            <a:r>
              <a:rPr lang="en-US" sz="4400" b="1" dirty="0" err="1"/>
              <a:t>zapažanja</a:t>
            </a:r>
            <a:endParaRPr lang="en-US" sz="44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4415246"/>
            <a:ext cx="8986749" cy="2087795"/>
            <a:chOff x="143163" y="5763486"/>
            <a:chExt cx="11982332" cy="73955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587829"/>
            <a:ext cx="4878975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065" y="749172"/>
            <a:ext cx="4878974" cy="5321807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600" b="1" dirty="0"/>
              <a:t>1️⃣ </a:t>
            </a:r>
            <a:r>
              <a:rPr lang="en-US" sz="1600" b="1" dirty="0" err="1"/>
              <a:t>Duboko</a:t>
            </a:r>
            <a:r>
              <a:rPr lang="en-US" sz="1600" b="1" dirty="0"/>
              <a:t> </a:t>
            </a:r>
            <a:r>
              <a:rPr lang="en-US" sz="1600" b="1" dirty="0" err="1"/>
              <a:t>učenje</a:t>
            </a:r>
            <a:r>
              <a:rPr lang="en-US" sz="1600" b="1" dirty="0"/>
              <a:t> je </a:t>
            </a:r>
            <a:r>
              <a:rPr lang="en-US" sz="1600" b="1" dirty="0" err="1"/>
              <a:t>moćno</a:t>
            </a:r>
            <a:r>
              <a:rPr lang="en-US" sz="1600" b="1" dirty="0"/>
              <a:t>, </a:t>
            </a:r>
            <a:r>
              <a:rPr lang="en-US" sz="1600" b="1" dirty="0" err="1"/>
              <a:t>ali</a:t>
            </a:r>
            <a:r>
              <a:rPr lang="en-US" sz="1600" b="1" dirty="0"/>
              <a:t> </a:t>
            </a:r>
            <a:r>
              <a:rPr lang="en-US" sz="1600" b="1" dirty="0" err="1"/>
              <a:t>pažljivo</a:t>
            </a:r>
            <a:endParaRPr lang="en-US" sz="1600" dirty="0"/>
          </a:p>
          <a:p>
            <a:r>
              <a:rPr lang="en-US" sz="1600" dirty="0"/>
              <a:t>Wav2Vec: 89.31% bez </a:t>
            </a:r>
            <a:r>
              <a:rPr lang="en-US" sz="1600" dirty="0" err="1"/>
              <a:t>ručnog</a:t>
            </a:r>
            <a:r>
              <a:rPr lang="en-US" sz="1600" dirty="0"/>
              <a:t> </a:t>
            </a:r>
            <a:r>
              <a:rPr lang="en-US" sz="1600" dirty="0" err="1"/>
              <a:t>dizajna</a:t>
            </a:r>
            <a:r>
              <a:rPr lang="en-US" sz="1600" dirty="0"/>
              <a:t> </a:t>
            </a:r>
            <a:r>
              <a:rPr lang="en-US" sz="1600" dirty="0" err="1"/>
              <a:t>karakteristika</a:t>
            </a:r>
            <a:endParaRPr lang="en-US" sz="1600" dirty="0"/>
          </a:p>
          <a:p>
            <a:r>
              <a:rPr lang="en-US" sz="1600" dirty="0"/>
              <a:t>Confusion matrix </a:t>
            </a:r>
            <a:r>
              <a:rPr lang="en-US" sz="1600" dirty="0" err="1"/>
              <a:t>pokazuje</a:t>
            </a:r>
            <a:r>
              <a:rPr lang="en-US" sz="1600" dirty="0"/>
              <a:t> </a:t>
            </a:r>
            <a:r>
              <a:rPr lang="en-US" sz="1600" dirty="0" err="1"/>
              <a:t>gde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zašto</a:t>
            </a:r>
            <a:r>
              <a:rPr lang="en-US" sz="1600" dirty="0"/>
              <a:t> model </a:t>
            </a:r>
            <a:r>
              <a:rPr lang="en-US" sz="1600" dirty="0" err="1"/>
              <a:t>greši</a:t>
            </a: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2️⃣ </a:t>
            </a:r>
            <a:r>
              <a:rPr lang="en-US" sz="1600" b="1" dirty="0" err="1"/>
              <a:t>Kvalitet</a:t>
            </a:r>
            <a:r>
              <a:rPr lang="en-US" sz="1600" b="1" dirty="0"/>
              <a:t> &gt; </a:t>
            </a:r>
            <a:r>
              <a:rPr lang="en-US" sz="1600" b="1" dirty="0" err="1"/>
              <a:t>količina</a:t>
            </a:r>
            <a:r>
              <a:rPr lang="en-US" sz="1600" b="1" dirty="0"/>
              <a:t> </a:t>
            </a:r>
            <a:r>
              <a:rPr lang="en-US" sz="1600" b="1" dirty="0" err="1"/>
              <a:t>podataka</a:t>
            </a:r>
            <a:endParaRPr lang="en-US" sz="1600" dirty="0"/>
          </a:p>
          <a:p>
            <a:r>
              <a:rPr lang="en-US" sz="1600" dirty="0" err="1"/>
              <a:t>Balansiran</a:t>
            </a:r>
            <a:r>
              <a:rPr lang="en-US" sz="1600" dirty="0"/>
              <a:t> dataset: ~2000 </a:t>
            </a:r>
            <a:r>
              <a:rPr lang="en-US" sz="1600" dirty="0" err="1"/>
              <a:t>uzoraka</a:t>
            </a:r>
            <a:r>
              <a:rPr lang="en-US" sz="1600" dirty="0"/>
              <a:t> po </a:t>
            </a:r>
            <a:r>
              <a:rPr lang="en-US" sz="1600" dirty="0" err="1"/>
              <a:t>jeziku</a:t>
            </a:r>
            <a:endParaRPr lang="en-US" sz="1600" dirty="0"/>
          </a:p>
          <a:p>
            <a:r>
              <a:rPr lang="en-US" sz="1600" dirty="0" err="1"/>
              <a:t>Raznovrsnost</a:t>
            </a:r>
            <a:r>
              <a:rPr lang="en-US" sz="1600" dirty="0"/>
              <a:t> </a:t>
            </a:r>
            <a:r>
              <a:rPr lang="en-US" sz="1600" dirty="0" err="1"/>
              <a:t>govornika</a:t>
            </a:r>
            <a:r>
              <a:rPr lang="en-US" sz="1600" dirty="0"/>
              <a:t> </a:t>
            </a:r>
            <a:r>
              <a:rPr lang="en-US" sz="1600" dirty="0" err="1"/>
              <a:t>važnija</a:t>
            </a:r>
            <a:r>
              <a:rPr lang="en-US" sz="1600" dirty="0"/>
              <a:t> od </a:t>
            </a:r>
            <a:r>
              <a:rPr lang="en-US" sz="1600" dirty="0" err="1"/>
              <a:t>broja</a:t>
            </a:r>
            <a:r>
              <a:rPr lang="en-US" sz="1600" dirty="0"/>
              <a:t> </a:t>
            </a:r>
            <a:r>
              <a:rPr lang="en-US" sz="1600" dirty="0" err="1"/>
              <a:t>uzoraka</a:t>
            </a: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3️⃣ Real-time </a:t>
            </a:r>
            <a:r>
              <a:rPr lang="en-US" sz="1600" b="1" dirty="0" err="1"/>
              <a:t>interfejs</a:t>
            </a:r>
            <a:r>
              <a:rPr lang="en-US" sz="1600" b="1" dirty="0"/>
              <a:t> </a:t>
            </a:r>
            <a:r>
              <a:rPr lang="en-US" sz="1600" b="1" dirty="0" err="1"/>
              <a:t>menja</a:t>
            </a:r>
            <a:r>
              <a:rPr lang="en-US" sz="1600" b="1" dirty="0"/>
              <a:t> </a:t>
            </a:r>
            <a:r>
              <a:rPr lang="en-US" sz="1600" b="1" dirty="0" err="1"/>
              <a:t>perspektivu</a:t>
            </a:r>
            <a:endParaRPr lang="en-US" sz="1600" dirty="0"/>
          </a:p>
          <a:p>
            <a:r>
              <a:rPr lang="en-US" sz="1600" dirty="0"/>
              <a:t>Latency &lt;2s </a:t>
            </a:r>
            <a:r>
              <a:rPr lang="en-US" sz="1600" dirty="0" err="1"/>
              <a:t>kritičan</a:t>
            </a:r>
            <a:r>
              <a:rPr lang="en-US" sz="1600" dirty="0"/>
              <a:t> za UX</a:t>
            </a:r>
          </a:p>
          <a:p>
            <a:r>
              <a:rPr lang="en-US" sz="1600" dirty="0" err="1"/>
              <a:t>Vizualizacija</a:t>
            </a:r>
            <a:r>
              <a:rPr lang="en-US" sz="1600" dirty="0"/>
              <a:t> confidence-a </a:t>
            </a:r>
            <a:r>
              <a:rPr lang="en-US" sz="1600" dirty="0" err="1"/>
              <a:t>povećava</a:t>
            </a:r>
            <a:r>
              <a:rPr lang="en-US" sz="1600" dirty="0"/>
              <a:t> </a:t>
            </a:r>
            <a:r>
              <a:rPr lang="en-US" sz="1600" dirty="0" err="1"/>
              <a:t>poverenje</a:t>
            </a:r>
            <a:r>
              <a:rPr lang="en-US" sz="1600" dirty="0"/>
              <a:t> </a:t>
            </a:r>
            <a:r>
              <a:rPr lang="en-US" sz="1600" dirty="0" err="1"/>
              <a:t>korisnika</a:t>
            </a:r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4️⃣ </a:t>
            </a:r>
            <a:r>
              <a:rPr lang="en-US" sz="1600" b="1" dirty="0" err="1"/>
              <a:t>Lingvistička</a:t>
            </a:r>
            <a:r>
              <a:rPr lang="en-US" sz="1600" b="1" dirty="0"/>
              <a:t> </a:t>
            </a:r>
            <a:r>
              <a:rPr lang="en-US" sz="1600" b="1" dirty="0" err="1"/>
              <a:t>sličnost</a:t>
            </a:r>
            <a:r>
              <a:rPr lang="en-US" sz="1600" b="1" dirty="0"/>
              <a:t> je </a:t>
            </a:r>
            <a:r>
              <a:rPr lang="en-US" sz="1600" b="1" dirty="0" err="1"/>
              <a:t>izazov</a:t>
            </a:r>
            <a:endParaRPr lang="en-US" sz="1600" dirty="0"/>
          </a:p>
          <a:p>
            <a:r>
              <a:rPr lang="en-US" sz="1600" dirty="0" err="1"/>
              <a:t>Najteže</a:t>
            </a:r>
            <a:r>
              <a:rPr lang="en-US" sz="1600" dirty="0"/>
              <a:t>: Serbian ↔ </a:t>
            </a:r>
            <a:r>
              <a:rPr lang="en-US" sz="1600" dirty="0" err="1"/>
              <a:t>ostali</a:t>
            </a:r>
            <a:r>
              <a:rPr lang="en-US" sz="1600" dirty="0"/>
              <a:t> </a:t>
            </a:r>
            <a:r>
              <a:rPr lang="en-US" sz="1600" dirty="0" err="1"/>
              <a:t>slovenski</a:t>
            </a:r>
            <a:r>
              <a:rPr lang="en-US" sz="1600" dirty="0"/>
              <a:t> </a:t>
            </a:r>
            <a:r>
              <a:rPr lang="en-US" sz="1600" dirty="0" err="1"/>
              <a:t>jezici</a:t>
            </a:r>
            <a:endParaRPr lang="en-US" sz="1600" dirty="0"/>
          </a:p>
          <a:p>
            <a:r>
              <a:rPr lang="en-US" sz="1600" dirty="0" err="1"/>
              <a:t>Fonetske</a:t>
            </a:r>
            <a:r>
              <a:rPr lang="en-US" sz="1600" dirty="0"/>
              <a:t> </a:t>
            </a:r>
            <a:r>
              <a:rPr lang="en-US" sz="1600" dirty="0" err="1"/>
              <a:t>karakteristike</a:t>
            </a:r>
            <a:r>
              <a:rPr lang="en-US" sz="1600" dirty="0"/>
              <a:t> same </a:t>
            </a:r>
            <a:r>
              <a:rPr lang="en-US" sz="1600" dirty="0" err="1"/>
              <a:t>nisu</a:t>
            </a:r>
            <a:r>
              <a:rPr lang="en-US" sz="1600" dirty="0"/>
              <a:t> </a:t>
            </a:r>
            <a:r>
              <a:rPr lang="en-US" sz="1600" dirty="0" err="1"/>
              <a:t>dovoljne</a:t>
            </a:r>
            <a:endParaRPr lang="en-US" sz="1600" dirty="0"/>
          </a:p>
          <a:p>
            <a:r>
              <a:rPr lang="en-US" sz="1600" dirty="0"/>
              <a:t>Treba </a:t>
            </a:r>
            <a:r>
              <a:rPr lang="en-US" sz="1600" dirty="0" err="1"/>
              <a:t>uzeti</a:t>
            </a:r>
            <a:r>
              <a:rPr lang="en-US" sz="1600" dirty="0"/>
              <a:t> u </a:t>
            </a:r>
            <a:r>
              <a:rPr lang="en-US" sz="1600" dirty="0" err="1"/>
              <a:t>obzir</a:t>
            </a:r>
            <a:r>
              <a:rPr lang="en-US" sz="1600" dirty="0"/>
              <a:t> </a:t>
            </a:r>
            <a:r>
              <a:rPr lang="en-US" sz="1600" dirty="0" err="1"/>
              <a:t>intonaciju</a:t>
            </a:r>
            <a:r>
              <a:rPr lang="en-US" sz="1600" dirty="0"/>
              <a:t>, </a:t>
            </a:r>
            <a:r>
              <a:rPr lang="en-US" sz="1600" dirty="0" err="1"/>
              <a:t>ritam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naglasak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546</Words>
  <Application>Microsoft Office PowerPoint</Application>
  <PresentationFormat>On-screen Show (4:3)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Sistem za Prepoznavanje Jezika iz Govora</vt:lpstr>
      <vt:lpstr>Zašto je prepoznavanje jezika važno?</vt:lpstr>
      <vt:lpstr>Izazovi u prepoznavanju jezika</vt:lpstr>
      <vt:lpstr>Arhitektura sistema</vt:lpstr>
      <vt:lpstr>MFCC Ekstrakcija</vt:lpstr>
      <vt:lpstr>Implementirani modeli</vt:lpstr>
      <vt:lpstr>Proces treniranja</vt:lpstr>
      <vt:lpstr>Real-time Interface </vt:lpstr>
      <vt:lpstr>Matrica konfuzije i analiza po jezicima</vt:lpstr>
      <vt:lpstr>Zaključak  i lična zapažanja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aleksa milic</cp:lastModifiedBy>
  <cp:revision>3</cp:revision>
  <dcterms:created xsi:type="dcterms:W3CDTF">2013-01-27T09:14:16Z</dcterms:created>
  <dcterms:modified xsi:type="dcterms:W3CDTF">2025-11-10T11:14:06Z</dcterms:modified>
  <cp:category/>
</cp:coreProperties>
</file>